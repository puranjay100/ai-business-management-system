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201316"/>
    <p:sldId id="269" r:id="rId201317"/>
    <p:sldId id="270" r:id="rId201318"/>
    <p:sldId id="271" r:id="rId201319"/>
    <p:sldId id="272" r:id="rId201320"/>
    <p:sldId id="273" r:id="rId201321"/>
    <p:sldId id="274" r:id="rId201322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  <Relationship Id="rId201316" Type="http://schemas.openxmlformats.org/officeDocument/2006/relationships/slide" Target="slides/slide13.xml"/>
  <Relationship Id="rId201317" Type="http://schemas.openxmlformats.org/officeDocument/2006/relationships/slide" Target="slides/slide14.xml"/>
  <Relationship Id="rId201318" Type="http://schemas.openxmlformats.org/officeDocument/2006/relationships/slide" Target="slides/slide15.xml"/>
  <Relationship Id="rId201319" Type="http://schemas.openxmlformats.org/officeDocument/2006/relationships/slide" Target="slides/slide16.xml"/>
  <Relationship Id="rId201320" Type="http://schemas.openxmlformats.org/officeDocument/2006/relationships/slide" Target="slides/slide17.xml"/>
  <Relationship Id="rId201321" Type="http://schemas.openxmlformats.org/officeDocument/2006/relationships/slide" Target="slides/slide18.xml"/>
  <Relationship Id="rId201322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3-1.jpe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4-1.jpe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5-1.jpe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6-1.jpe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7-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8-1.jpe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9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Puranjay100/AI-Business-Management-Syste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10.xml"/><Relationship Id="rId10" Type="http://schemas.openxmlformats.org/officeDocument/2006/relationships/slide" Target="../slides/slide13.xml"/><Relationship Id="rId11" Type="http://schemas.openxmlformats.org/officeDocument/2006/relationships/slide" Target="../slides/slide14.xml"/><Relationship Id="rId12" Type="http://schemas.openxmlformats.org/officeDocument/2006/relationships/slide" Target="../slides/slide15.xml"/><Relationship Id="rId13" Type="http://schemas.openxmlformats.org/officeDocument/2006/relationships/slide" Target="../slides/slide16.xml"/><Relationship Id="rId14" Type="http://schemas.openxmlformats.org/officeDocument/2006/relationships/slide" Target="../slides/slide17.xml"/><Relationship Id="rId15" Type="http://schemas.openxmlformats.org/officeDocument/2006/relationships/slide" Target="../slides/slide18.xml"/><Relationship Id="rId16" Type="http://schemas.openxmlformats.org/officeDocument/2006/relationships/slide" Target="../slides/slide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Puranjay100/AI-Business-Management-System" TargetMode="Externa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slide" Target="../slides/slide10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slide" Target="../slides/slide10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slide" Target="../slides/slide10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slide" Target="../slides/slide10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slide" Target="../slides/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slide" Target="../slides/slide10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8.xml"/><Relationship Id="rId9" Type="http://schemas.openxmlformats.org/officeDocument/2006/relationships/slide" Target="../slides/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86098"/>
            <a:ext cx="8515137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Business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2222103"/>
            <a:ext cx="7627350" cy="77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AI-powered operating layer for smarter small-business decisions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66733" y="4596309"/>
            <a:ext cx="4701363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6733" y="4858941"/>
            <a:ext cx="470136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Project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7133" y="4596309"/>
            <a:ext cx="4701363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7133" y="4819848"/>
            <a:ext cx="401944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+ Streamlit + SQLite + AI Insights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733" y="5725120"/>
            <a:ext cx="4701363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6733" y="5987653"/>
            <a:ext cx="470136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Puranjay Sharma &amp; Rishi Agrawal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7133" y="5725120"/>
            <a:ext cx="4701363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7133" y="5987653"/>
            <a:ext cx="470136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September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34097" y="6565392"/>
            <a:ext cx="355759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xmlns:r="http://schemas.openxmlformats.org/officeDocument/2006/relationships" r:id="rId3"/>
              </a:rPr>
              <a:t>github.com/Puranjay100/AI-Business-Management-System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189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693" y="310753"/>
            <a:ext cx="1192500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Small businesses have data, but not always decisions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266693" y="1318994"/>
            <a:ext cx="6673683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 REALITY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66693" y="1730554"/>
            <a:ext cx="5695808" cy="730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66693" y="2451675"/>
            <a:ext cx="5695808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6" name="Shape 4"/>
          <p:cNvSpPr/>
          <p:nvPr/>
        </p:nvSpPr>
        <p:spPr>
          <a:xfrm>
            <a:off x="266693" y="1730554"/>
            <a:ext cx="38099" cy="730448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400040" y="1894364"/>
            <a:ext cx="671178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Disconnected Silos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040" y="2170390"/>
            <a:ext cx="706737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Inventory, customers, and sales tracked in isolated spreadsheets or manual logs.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6693" y="2642175"/>
            <a:ext cx="5695808" cy="730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66693" y="3363198"/>
            <a:ext cx="5695808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11" name="Shape 9"/>
          <p:cNvSpPr/>
          <p:nvPr/>
        </p:nvSpPr>
        <p:spPr>
          <a:xfrm>
            <a:off x="266693" y="2642175"/>
            <a:ext cx="38099" cy="730448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2" name="Text 10"/>
          <p:cNvSpPr/>
          <p:nvPr/>
        </p:nvSpPr>
        <p:spPr>
          <a:xfrm>
            <a:off x="400040" y="2805986"/>
            <a:ext cx="671178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Consolidation Debt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0040" y="3081814"/>
            <a:ext cx="706737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Owners spend hours merging data instead of analyzing business performance.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6693" y="3553698"/>
            <a:ext cx="5695808" cy="730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6693" y="4274622"/>
            <a:ext cx="5695808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16" name="Shape 14"/>
          <p:cNvSpPr/>
          <p:nvPr/>
        </p:nvSpPr>
        <p:spPr>
          <a:xfrm>
            <a:off x="266693" y="3553698"/>
            <a:ext cx="38099" cy="730448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7" name="Text 15"/>
          <p:cNvSpPr/>
          <p:nvPr/>
        </p:nvSpPr>
        <p:spPr>
          <a:xfrm>
            <a:off x="400040" y="3717508"/>
            <a:ext cx="712452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Invisible Risks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0040" y="3993336"/>
            <a:ext cx="706737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Low-stock alerts and shifting customer trends are missed until they impact revenue.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9194" y="1318994"/>
            <a:ext cx="5962501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"BEFORE" JOURNEY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29194" y="1768654"/>
            <a:ext cx="5695808" cy="32385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640" y="1940104"/>
            <a:ext cx="266693" cy="2667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48" y="1990209"/>
            <a:ext cx="87627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81630" y="2002314"/>
            <a:ext cx="2329598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sale manually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86623" y="2329140"/>
            <a:ext cx="71237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↓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640" y="2597329"/>
            <a:ext cx="266693" cy="2667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6" name="Text 24"/>
          <p:cNvSpPr/>
          <p:nvPr/>
        </p:nvSpPr>
        <p:spPr>
          <a:xfrm>
            <a:off x="6095848" y="2647434"/>
            <a:ext cx="87627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81630" y="2659539"/>
            <a:ext cx="2329598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Update stock records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86623" y="2986365"/>
            <a:ext cx="71237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↓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640" y="3254554"/>
            <a:ext cx="266693" cy="2667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0" name="Text 28"/>
          <p:cNvSpPr/>
          <p:nvPr/>
        </p:nvSpPr>
        <p:spPr>
          <a:xfrm>
            <a:off x="6095848" y="3304659"/>
            <a:ext cx="87627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1630" y="3316764"/>
            <a:ext cx="3118268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multiple spreadsheets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86623" y="3643590"/>
            <a:ext cx="71237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640" y="3911779"/>
            <a:ext cx="266693" cy="2667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4" name="Text 32"/>
          <p:cNvSpPr/>
          <p:nvPr/>
        </p:nvSpPr>
        <p:spPr>
          <a:xfrm>
            <a:off x="6095848" y="3961884"/>
            <a:ext cx="87627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81630" y="3942239"/>
            <a:ext cx="2855643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Attempt to interpret trends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86623" y="4300815"/>
            <a:ext cx="71237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640" y="4569004"/>
            <a:ext cx="266693" cy="2667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8" name="Text 36"/>
          <p:cNvSpPr/>
          <p:nvPr/>
        </p:nvSpPr>
        <p:spPr>
          <a:xfrm>
            <a:off x="6095848" y="4619109"/>
            <a:ext cx="87627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81630" y="4631214"/>
            <a:ext cx="2804050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Delayed business decision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29194" y="5273854"/>
            <a:ext cx="5695808" cy="71606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1" name="Shape 39"/>
          <p:cNvSpPr/>
          <p:nvPr/>
        </p:nvSpPr>
        <p:spPr>
          <a:xfrm>
            <a:off x="6229194" y="5273854"/>
            <a:ext cx="38099" cy="716062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2" name="Text 40"/>
          <p:cNvSpPr/>
          <p:nvPr/>
        </p:nvSpPr>
        <p:spPr>
          <a:xfrm>
            <a:off x="6410462" y="5456019"/>
            <a:ext cx="5333271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opportunity is not simply storing data; it is shortening the path from activity to action.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801180" y="6565392"/>
            <a:ext cx="390515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6693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272653"/>
            <a:ext cx="1196310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single workspace for day-to-day business management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228594" y="1583869"/>
            <a:ext cx="3822604" cy="13477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0990" y="1766729"/>
            <a:ext cx="4667133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Dashboard &amp; KPIs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0990" y="2089190"/>
            <a:ext cx="3460663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visibility into revenue, sales volume, and top-performing products.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0990" y="2583994"/>
            <a:ext cx="1485863" cy="195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49053" y="2616140"/>
            <a:ext cx="226738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VISIBILITY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84545" y="1583869"/>
            <a:ext cx="3822604" cy="13477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6942" y="1766729"/>
            <a:ext cx="4667133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Inventory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36942" y="2089190"/>
            <a:ext cx="3460663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Centralized product tracking with automated low-stock alerts and archiving.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36942" y="2583994"/>
            <a:ext cx="1090486" cy="195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4405004" y="2616140"/>
            <a:ext cx="1792937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 INTEGRITY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140496" y="1583869"/>
            <a:ext cx="3822604" cy="13477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2893" y="1766729"/>
            <a:ext cx="389880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Customer Relations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92893" y="2084526"/>
            <a:ext cx="3460663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customer profiles and purchase history to identify loyal patrons.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92893" y="2574469"/>
            <a:ext cx="1066773" cy="195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0955" y="2606615"/>
            <a:ext cx="1764462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INSIGHTS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594" y="3055580"/>
            <a:ext cx="3822604" cy="1385887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990" y="3238440"/>
            <a:ext cx="4667133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Sales Recording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0990" y="3579951"/>
            <a:ext cx="3460663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transaction entry with immediate inventory decrement and immutable logs.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0990" y="4093805"/>
            <a:ext cx="1214308" cy="195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20"/>
          <p:cNvSpPr/>
          <p:nvPr/>
        </p:nvSpPr>
        <p:spPr>
          <a:xfrm>
            <a:off x="449053" y="4125952"/>
            <a:ext cx="1941464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 FLOW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84545" y="3055580"/>
            <a:ext cx="3822604" cy="1385887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6942" y="3238440"/>
            <a:ext cx="4667133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36942" y="3579951"/>
            <a:ext cx="3460663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authentication separating Admin oversight from Staff operational tasks.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36942" y="4093805"/>
            <a:ext cx="1100011" cy="195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4405004" y="4125952"/>
            <a:ext cx="1804347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SECURITY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40496" y="3055580"/>
            <a:ext cx="3822604" cy="13858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140496" y="3055580"/>
            <a:ext cx="3822604" cy="381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53576" y="3055580"/>
            <a:ext cx="9525" cy="1385887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31" name="Shape 29"/>
          <p:cNvSpPr/>
          <p:nvPr/>
        </p:nvSpPr>
        <p:spPr>
          <a:xfrm>
            <a:off x="8140496" y="4431844"/>
            <a:ext cx="3822604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32" name="Shape 30"/>
          <p:cNvSpPr/>
          <p:nvPr/>
        </p:nvSpPr>
        <p:spPr>
          <a:xfrm>
            <a:off x="8140496" y="3055580"/>
            <a:ext cx="9525" cy="1385887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33" name="Text 31"/>
          <p:cNvSpPr/>
          <p:nvPr/>
        </p:nvSpPr>
        <p:spPr>
          <a:xfrm>
            <a:off x="8292893" y="3262154"/>
            <a:ext cx="389880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Business Insights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92893" y="3591758"/>
            <a:ext cx="3460663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On-demand briefings translating complex metrics into plain-English recommendations.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92893" y="4093805"/>
            <a:ext cx="1171546" cy="195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6" name="Text 34"/>
          <p:cNvSpPr/>
          <p:nvPr/>
        </p:nvSpPr>
        <p:spPr>
          <a:xfrm>
            <a:off x="8360955" y="4125952"/>
            <a:ext cx="189016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SUPPORT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594" y="4612819"/>
            <a:ext cx="11734506" cy="69532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594" y="5289094"/>
            <a:ext cx="11734506" cy="1905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9" name="Text 37"/>
          <p:cNvSpPr/>
          <p:nvPr/>
        </p:nvSpPr>
        <p:spPr>
          <a:xfrm>
            <a:off x="702352" y="4766508"/>
            <a:ext cx="100148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0060" y="4982805"/>
            <a:ext cx="123821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Capture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092967" y="4862751"/>
            <a:ext cx="7810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07474" y="4766508"/>
            <a:ext cx="100148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176508" y="4982805"/>
            <a:ext cx="130677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Organize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98089" y="4862751"/>
            <a:ext cx="7810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12397" y="4766508"/>
            <a:ext cx="100148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12486" y="4982805"/>
            <a:ext cx="123236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Analyze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03012" y="4862751"/>
            <a:ext cx="7810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17518" y="4766508"/>
            <a:ext cx="100148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60350" y="4982805"/>
            <a:ext cx="1609784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908133" y="4862751"/>
            <a:ext cx="7810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1122441" y="4766508"/>
            <a:ext cx="100148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186733" y="4982805"/>
            <a:ext cx="83817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50412" y="5409744"/>
            <a:ext cx="11890871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Designed for simplicity: a focused MVP that delivers useful operational visibility without enterprise-software complexity.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839279" y="6565392"/>
            <a:ext cx="35241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28594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373"/>
            <a:ext cx="11734506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experience changes with the user’s role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57189" y="1333500"/>
            <a:ext cx="5448164" cy="34671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89" y="1333500"/>
            <a:ext cx="5448164" cy="9334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2247900"/>
            <a:ext cx="5448164" cy="1905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6" name="Shape 4"/>
          <p:cNvSpPr/>
          <p:nvPr/>
        </p:nvSpPr>
        <p:spPr>
          <a:xfrm>
            <a:off x="685783" y="1562100"/>
            <a:ext cx="457189" cy="4572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380990" y="1679575"/>
            <a:ext cx="106677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5368" y="1683742"/>
            <a:ext cx="1381190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783" y="2483148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28664" y="2505273"/>
            <a:ext cx="4381390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product and customer CRUD management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783" y="2848967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28664" y="2870994"/>
            <a:ext cx="4644214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profile and low-stock threshold settings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783" y="3214688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8664" y="3236813"/>
            <a:ext cx="5289914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and role administration (Staff account management)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783" y="3580507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8664" y="3602534"/>
            <a:ext cx="3943847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Exclusive access to AI Business Insights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783" y="3946227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8664" y="3968353"/>
            <a:ext cx="4947221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operational dashboard and sales history visibility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6343" y="1333500"/>
            <a:ext cx="5448164" cy="34671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6343" y="1333500"/>
            <a:ext cx="5448164" cy="9334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6343" y="2247900"/>
            <a:ext cx="5448164" cy="1905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2" name="Shape 20"/>
          <p:cNvSpPr/>
          <p:nvPr/>
        </p:nvSpPr>
        <p:spPr>
          <a:xfrm>
            <a:off x="6514937" y="1562100"/>
            <a:ext cx="457189" cy="4572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0145" y="1679575"/>
            <a:ext cx="106677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24522" y="1683742"/>
            <a:ext cx="1169561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Staff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4937" y="2483148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57818" y="2505273"/>
            <a:ext cx="3661279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operational dashboard and KPIs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14937" y="2848967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57818" y="2870994"/>
            <a:ext cx="4312733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inventory and customer lists (read-only)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14937" y="3214688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57818" y="3236813"/>
            <a:ext cx="3078383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new sales transactions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4937" y="3580507"/>
            <a:ext cx="70681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57818" y="3602534"/>
            <a:ext cx="4267093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sales history and operational records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14937" y="3968353"/>
            <a:ext cx="5676758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No access to AI Insights or System Settings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189" y="5181600"/>
            <a:ext cx="11277318" cy="1219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189" y="5181600"/>
            <a:ext cx="38099" cy="12192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6" name="Text 34"/>
          <p:cNvSpPr/>
          <p:nvPr/>
        </p:nvSpPr>
        <p:spPr>
          <a:xfrm>
            <a:off x="685783" y="5435600"/>
            <a:ext cx="1150591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SAMPLE NAVIGATION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783" y="5738713"/>
            <a:ext cx="1252407" cy="4333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2393" y="5872262"/>
            <a:ext cx="182865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Secure Login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13634" y="5882481"/>
            <a:ext cx="735292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060623" y="5738713"/>
            <a:ext cx="1790655" cy="4333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87233" y="5872262"/>
            <a:ext cx="230509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Dashboard Overview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36248" y="5882481"/>
            <a:ext cx="735292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6313" y="5738713"/>
            <a:ext cx="2338329" cy="4333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2923" y="5872262"/>
            <a:ext cx="2962399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Operations (Inventory/Sales)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18838" y="5882481"/>
            <a:ext cx="735292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471979" y="5738713"/>
            <a:ext cx="2033537" cy="4333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8589" y="5872262"/>
            <a:ext cx="2493106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Insights (Admin Only)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189" y="6565392"/>
            <a:ext cx="3867053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601160" y="6565392"/>
            <a:ext cx="59053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265807"/>
            <a:ext cx="1196310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Separation of concerns makes the prototype easier to evolve</a:t>
            </a:r>
            <a:endParaRPr lang="en-US" sz="1450" dirty="0"/>
          </a:p>
        </p:txBody>
      </p:sp>
      <p:sp>
        <p:nvSpPr>
          <p:cNvPr id="3" name="Shape 1"/>
          <p:cNvSpPr/>
          <p:nvPr/>
        </p:nvSpPr>
        <p:spPr>
          <a:xfrm>
            <a:off x="228594" y="953373"/>
            <a:ext cx="11734506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891" y="1067673"/>
            <a:ext cx="11505912" cy="823813"/>
          </a:xfrm>
          <a:prstGeom prst="rect">
            <a:avLst/>
          </a:prstGeom>
          <a:solidFill>
            <a:srgbClr val="F4F4F4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89" y="1202214"/>
            <a:ext cx="1173450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PRESENTATION LAYER (STREAMLIT)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189" y="1448673"/>
            <a:ext cx="790555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0593" y="1514554"/>
            <a:ext cx="1387639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23942" y="1448673"/>
            <a:ext cx="881040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7346" y="1514554"/>
            <a:ext cx="1496380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 UI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1081" y="1448673"/>
            <a:ext cx="947615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4485" y="1514554"/>
            <a:ext cx="1576150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Customers UI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05092" y="1448673"/>
            <a:ext cx="657209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8497" y="1514554"/>
            <a:ext cx="1227603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UI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38499" y="1448673"/>
            <a:ext cx="795218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1903" y="1514554"/>
            <a:ext cx="1393195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Insights UI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09915" y="1448673"/>
            <a:ext cx="804842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3320" y="1514554"/>
            <a:ext cx="1404902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UI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099" y="1980883"/>
            <a:ext cx="12115497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5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2891" y="2234486"/>
            <a:ext cx="11505912" cy="823813"/>
          </a:xfrm>
          <a:prstGeom prst="rect">
            <a:avLst/>
          </a:prstGeom>
          <a:solidFill>
            <a:srgbClr val="EDEDED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189" y="2369125"/>
            <a:ext cx="1173450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APPLICATION / BUSINESS LOGIC LAYER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189" y="2615486"/>
            <a:ext cx="1181070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93" y="2681466"/>
            <a:ext cx="1856237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InventoryManager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14457" y="2615486"/>
            <a:ext cx="1190595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7861" y="2681466"/>
            <a:ext cx="1867746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CustomerManager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81250" y="2615486"/>
            <a:ext cx="957239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4655" y="2681466"/>
            <a:ext cx="1587758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SalesManager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14687" y="2615486"/>
            <a:ext cx="1066773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28091" y="2681466"/>
            <a:ext cx="1719120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Rules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57658" y="2615486"/>
            <a:ext cx="985714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1063" y="2681466"/>
            <a:ext cx="1621789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Logic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099" y="3147695"/>
            <a:ext cx="12115497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5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2891" y="3401298"/>
            <a:ext cx="11505912" cy="823813"/>
          </a:xfrm>
          <a:prstGeom prst="rect">
            <a:avLst/>
          </a:prstGeom>
          <a:solidFill>
            <a:srgbClr val="DCDCDC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189" y="3535839"/>
            <a:ext cx="1173450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6F6F6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PERSISTENCE LAYER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189" y="3782298"/>
            <a:ext cx="1114397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0593" y="3848179"/>
            <a:ext cx="1776269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Wrapper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647784" y="3782298"/>
            <a:ext cx="1081060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61188" y="3848179"/>
            <a:ext cx="1736384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SQLite (bms.db)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804943" y="3782298"/>
            <a:ext cx="1009625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8347" y="3848179"/>
            <a:ext cx="1650562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Table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90865" y="3782298"/>
            <a:ext cx="819130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4269" y="3848179"/>
            <a:ext cx="1421968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Table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86094" y="3782298"/>
            <a:ext cx="1109635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9498" y="3848179"/>
            <a:ext cx="1770713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Customers Table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594" y="4477623"/>
            <a:ext cx="578153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6F6F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891" y="4612164"/>
            <a:ext cx="666415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6F6F6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AUTHENTICATION LAYER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2891" y="4858623"/>
            <a:ext cx="1457289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6296" y="4924504"/>
            <a:ext cx="2187719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streamlit-authenticator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76378" y="4858623"/>
            <a:ext cx="1262031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89782" y="4924504"/>
            <a:ext cx="1953568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Hashed Credentials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14607" y="4858623"/>
            <a:ext cx="876278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28011" y="4924504"/>
            <a:ext cx="1490526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 Lookup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62521" y="4477623"/>
            <a:ext cx="580058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5867" y="4612164"/>
            <a:ext cx="589582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INSIGHTS LAYER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95867" y="4858623"/>
            <a:ext cx="1000100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9272" y="4924504"/>
            <a:ext cx="1639152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InsightsEngine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372166" y="4858623"/>
            <a:ext cx="1323942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85570" y="4924504"/>
            <a:ext cx="2027683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Construction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772306" y="4858623"/>
            <a:ext cx="1081060" cy="290413"/>
          </a:xfrm>
          <a:prstGeom prst="rect">
            <a:avLst/>
          </a:prstGeom>
          <a:solidFill>
            <a:srgbClr val="E0E0E0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85710" y="4924504"/>
            <a:ext cx="1736384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 API Call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594" y="5620623"/>
            <a:ext cx="11734506" cy="38338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1" name="Shape 59"/>
          <p:cNvSpPr/>
          <p:nvPr/>
        </p:nvSpPr>
        <p:spPr>
          <a:xfrm>
            <a:off x="228594" y="5620623"/>
            <a:ext cx="38099" cy="383381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62" name="Text 60"/>
          <p:cNvSpPr/>
          <p:nvPr/>
        </p:nvSpPr>
        <p:spPr>
          <a:xfrm>
            <a:off x="364719" y="5754568"/>
            <a:ext cx="11826976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Guardrail: The UI does not directly write SQL, and the AI layer does not directly access raw database records.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829754" y="6565392"/>
            <a:ext cx="361941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28594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373"/>
            <a:ext cx="11734506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data model protects everyday business workflows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57189" y="1836420"/>
            <a:ext cx="5448164" cy="174773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783" y="2062440"/>
            <a:ext cx="631174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ENTITIES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783" y="2517358"/>
            <a:ext cx="1490625" cy="3524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685783" y="2517358"/>
            <a:ext cx="38099" cy="35242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867051" y="2605465"/>
            <a:ext cx="216003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Business Profile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52606" y="2517358"/>
            <a:ext cx="981050" cy="3524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2252606" y="2517358"/>
            <a:ext cx="38099" cy="35242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0" name="Text 8"/>
          <p:cNvSpPr/>
          <p:nvPr/>
        </p:nvSpPr>
        <p:spPr>
          <a:xfrm>
            <a:off x="2433874" y="2605465"/>
            <a:ext cx="154836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Products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09755" y="2517358"/>
            <a:ext cx="1109635" cy="3524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09755" y="2517358"/>
            <a:ext cx="38099" cy="35242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3" name="Text 11"/>
          <p:cNvSpPr/>
          <p:nvPr/>
        </p:nvSpPr>
        <p:spPr>
          <a:xfrm>
            <a:off x="3491024" y="2605465"/>
            <a:ext cx="170284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95688" y="2517358"/>
            <a:ext cx="728644" cy="3524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5688" y="2517358"/>
            <a:ext cx="38099" cy="35242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6" name="Text 14"/>
          <p:cNvSpPr/>
          <p:nvPr/>
        </p:nvSpPr>
        <p:spPr>
          <a:xfrm>
            <a:off x="4676956" y="2605465"/>
            <a:ext cx="124566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783" y="2984183"/>
            <a:ext cx="1280981" cy="3524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783" y="2984183"/>
            <a:ext cx="38099" cy="35242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9" name="Text 17"/>
          <p:cNvSpPr/>
          <p:nvPr/>
        </p:nvSpPr>
        <p:spPr>
          <a:xfrm>
            <a:off x="867051" y="3072289"/>
            <a:ext cx="190832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Users / Roles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189" y="3848279"/>
            <a:ext cx="6540336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INTEGRITY RULES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86343" y="3517583"/>
            <a:ext cx="5448164" cy="67627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86343" y="3517583"/>
            <a:ext cx="38099" cy="67627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67611" y="3696275"/>
            <a:ext cx="5209747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Low-Stock Threshold: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Configurable by Admin (default: 5 units). Triggers visual badges in inventory and dashboard to prevent stockouts.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189" y="4309745"/>
            <a:ext cx="72388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4357" y="4330382"/>
            <a:ext cx="509584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Recording a sale automatically decrements available stock.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189" y="4624070"/>
            <a:ext cx="72388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4357" y="4644708"/>
            <a:ext cx="551285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cannot exceed available inventory (InsufficientStockError).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189" y="4938395"/>
            <a:ext cx="72388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4357" y="4959033"/>
            <a:ext cx="534140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records are immutable; no deletion allowed in v1 design.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189" y="5252720"/>
            <a:ext cx="72388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4357" y="5273358"/>
            <a:ext cx="5232964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and customers use soft-delete (archiving) behavior.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189" y="5567045"/>
            <a:ext cx="72388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4357" y="5587683"/>
            <a:ext cx="535291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summaries support date-range and category filtering.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86343" y="1833840"/>
            <a:ext cx="590535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 FLOW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86343" y="2288758"/>
            <a:ext cx="5448164" cy="105727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6" name="Shape 34"/>
          <p:cNvSpPr/>
          <p:nvPr/>
        </p:nvSpPr>
        <p:spPr>
          <a:xfrm>
            <a:off x="6286343" y="3327083"/>
            <a:ext cx="5448164" cy="1905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7" name="Text 35"/>
          <p:cNvSpPr/>
          <p:nvPr/>
        </p:nvSpPr>
        <p:spPr>
          <a:xfrm>
            <a:off x="6062302" y="2613898"/>
            <a:ext cx="160968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35712" y="2849245"/>
            <a:ext cx="166286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Product Stock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52360" y="2862072"/>
            <a:ext cx="7810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80898" y="2613898"/>
            <a:ext cx="1633397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59169" y="2849245"/>
            <a:ext cx="1676854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Sale Recorded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805672" y="2862072"/>
            <a:ext cx="7810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22064" y="2613898"/>
            <a:ext cx="1666833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UPDATE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689124" y="2849245"/>
            <a:ext cx="173271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Stock Reduced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168128" y="2862072"/>
            <a:ext cx="7810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41861" y="2613898"/>
            <a:ext cx="177160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098603" y="2849245"/>
            <a:ext cx="1858122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Revenue Logged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86343" y="4308058"/>
            <a:ext cx="5448164" cy="67627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Shape 47"/>
          <p:cNvSpPr/>
          <p:nvPr/>
        </p:nvSpPr>
        <p:spPr>
          <a:xfrm>
            <a:off x="6286343" y="4308058"/>
            <a:ext cx="38099" cy="67627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50" name="Text 48"/>
          <p:cNvSpPr/>
          <p:nvPr/>
        </p:nvSpPr>
        <p:spPr>
          <a:xfrm>
            <a:off x="6467611" y="4486751"/>
            <a:ext cx="5209747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Persistence: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SQLite (bms.db) provides relational integrity and concurrent write safety without external database overhead.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601160" y="6565392"/>
            <a:ext cx="59053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189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373"/>
            <a:ext cx="11734506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AI layer turns summarized data into an actionable briefing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57189" y="1333500"/>
            <a:ext cx="6537757" cy="66675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5" y="1485900"/>
            <a:ext cx="342891" cy="3429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1546225"/>
            <a:ext cx="95247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2971" y="1579463"/>
            <a:ext cx="5758512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Trigger: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Admin clicks "Generate Insights" on the Insights page.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189" y="2095500"/>
            <a:ext cx="6537757" cy="66675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2247900"/>
            <a:ext cx="342891" cy="3429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9" name="Text 7"/>
          <p:cNvSpPr/>
          <p:nvPr/>
        </p:nvSpPr>
        <p:spPr>
          <a:xfrm>
            <a:off x="304792" y="2308225"/>
            <a:ext cx="95247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2971" y="2341463"/>
            <a:ext cx="7107457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Aggregation: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SalesManager computes high-level business metrics from SQLite.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189" y="2857500"/>
            <a:ext cx="6537757" cy="66675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5" y="3009900"/>
            <a:ext cx="342891" cy="3429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3" name="Text 11"/>
          <p:cNvSpPr/>
          <p:nvPr/>
        </p:nvSpPr>
        <p:spPr>
          <a:xfrm>
            <a:off x="304792" y="3070225"/>
            <a:ext cx="95247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2971" y="3103463"/>
            <a:ext cx="7295967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Prompting: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InsightsEngine constructs a structured prompt with business context.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75936" y="1333500"/>
            <a:ext cx="4358471" cy="361463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75936" y="1333500"/>
            <a:ext cx="4358471" cy="381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7" name="Text 15"/>
          <p:cNvSpPr/>
          <p:nvPr/>
        </p:nvSpPr>
        <p:spPr>
          <a:xfrm>
            <a:off x="7604530" y="1587500"/>
            <a:ext cx="458716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METRICS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31140" y="1917700"/>
            <a:ext cx="436055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Revenue (All-time)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31140" y="2179638"/>
            <a:ext cx="436055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Revenue Comparison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31140" y="2441674"/>
            <a:ext cx="436055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Best-selling Products (Top 5)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31140" y="2703513"/>
            <a:ext cx="436055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Customers by Spend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31140" y="2965549"/>
            <a:ext cx="436055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Breakdown by Category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31140" y="3227388"/>
            <a:ext cx="436055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Low-stock Alerts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04530" y="3576538"/>
            <a:ext cx="3901283" cy="1104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604530" y="1916013"/>
            <a:ext cx="66911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04530" y="2178050"/>
            <a:ext cx="66911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04530" y="2439988"/>
            <a:ext cx="66911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04530" y="2701925"/>
            <a:ext cx="66911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04530" y="2963863"/>
            <a:ext cx="66911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04530" y="3225800"/>
            <a:ext cx="66911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56926" y="3752652"/>
            <a:ext cx="443476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Output Structure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56926" y="3978870"/>
            <a:ext cx="3596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2-sentence trend summary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Best-performing category &amp; why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One actionable recommendation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189" y="3619500"/>
            <a:ext cx="6537757" cy="750491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585" y="3813770"/>
            <a:ext cx="342891" cy="3429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5" name="Text 33"/>
          <p:cNvSpPr/>
          <p:nvPr/>
        </p:nvSpPr>
        <p:spPr>
          <a:xfrm>
            <a:off x="304792" y="3874095"/>
            <a:ext cx="95247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2971" y="3779044"/>
            <a:ext cx="6309162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Inference: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OpenAI model processes the metrics and generates a concise analysis.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189" y="4465241"/>
            <a:ext cx="6537757" cy="750491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585" y="4659610"/>
            <a:ext cx="342891" cy="3429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9" name="Text 37"/>
          <p:cNvSpPr/>
          <p:nvPr/>
        </p:nvSpPr>
        <p:spPr>
          <a:xfrm>
            <a:off x="304792" y="4719935"/>
            <a:ext cx="95247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2971" y="4624884"/>
            <a:ext cx="6309162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Delivery: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recommendation is displayed as a plain-English briefing for the Admin.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189" y="5539680"/>
            <a:ext cx="6537757" cy="7048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189" y="5539680"/>
            <a:ext cx="38099" cy="70485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3" name="Text 41"/>
          <p:cNvSpPr/>
          <p:nvPr/>
        </p:nvSpPr>
        <p:spPr>
          <a:xfrm>
            <a:off x="638457" y="5718175"/>
            <a:ext cx="6299340" cy="38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Minimization: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Raw database records are never sent to the AI layer. The design passes only aggregated, non-sensitive business metrics.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601160" y="6565392"/>
            <a:ext cx="59053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189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373"/>
            <a:ext cx="11734506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Useful AI must also be controlled AI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57189" y="1333500"/>
            <a:ext cx="5524362" cy="159444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783" y="1562100"/>
            <a:ext cx="380990" cy="381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5" name="Text 3"/>
          <p:cNvSpPr/>
          <p:nvPr/>
        </p:nvSpPr>
        <p:spPr>
          <a:xfrm>
            <a:off x="380990" y="1641475"/>
            <a:ext cx="99057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19170" y="1662609"/>
            <a:ext cx="24784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 Minimization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783" y="2064048"/>
            <a:ext cx="5174228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system sends aggregated business metrics rather than raw operational records to the AI layer, protecting granular transaction data.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0145" y="1333500"/>
            <a:ext cx="5524362" cy="159444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8739" y="1562100"/>
            <a:ext cx="380990" cy="381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0" name="Text 8"/>
          <p:cNvSpPr/>
          <p:nvPr/>
        </p:nvSpPr>
        <p:spPr>
          <a:xfrm>
            <a:off x="6133947" y="1641475"/>
            <a:ext cx="99057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72126" y="1662609"/>
            <a:ext cx="272408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38739" y="2064048"/>
            <a:ext cx="5010025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Insights are manually requested and reviewed by an Admin. The AI acts as a consultant, never executing autonomous business actions.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189" y="3147020"/>
            <a:ext cx="5524362" cy="160397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783" y="3375620"/>
            <a:ext cx="380990" cy="381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380990" y="3454995"/>
            <a:ext cx="99057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19170" y="3476228"/>
            <a:ext cx="214674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783" y="3877667"/>
            <a:ext cx="5164108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Strict authentication and role-aware navigation ensure that only authorized Admins can access business insights and system settings.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0145" y="3147020"/>
            <a:ext cx="5524362" cy="160397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8739" y="3385145"/>
            <a:ext cx="380990" cy="381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0" name="Text 18"/>
          <p:cNvSpPr/>
          <p:nvPr/>
        </p:nvSpPr>
        <p:spPr>
          <a:xfrm>
            <a:off x="6133947" y="3464520"/>
            <a:ext cx="99057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72126" y="3485753"/>
            <a:ext cx="27755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Failure Containment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38739" y="3887192"/>
            <a:ext cx="5010025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core application is decoupled from the AI layer. If the API is unavailable, the system continues to function with clear error reporting.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189" y="5131991"/>
            <a:ext cx="11277318" cy="126871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189" y="5131991"/>
            <a:ext cx="38099" cy="126871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783" y="5384403"/>
            <a:ext cx="11505912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1" kern="0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PRODUCTION HARDENING REQUIREMENTS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783" y="5689798"/>
            <a:ext cx="250501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Secret Management: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Move API keys and credentials to a secure vault (e.g., IBM Cloud Secrets Manager).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38439" y="5689798"/>
            <a:ext cx="250501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Audit Logging: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Implement comprehensive logging for all data mutations and AI interactions.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91095" y="5689798"/>
            <a:ext cx="250501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Security Policy: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Enforce stronger password policies and multi-factor authentication (MFA).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943751" y="5689798"/>
            <a:ext cx="250501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Model Governance: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Evaluate privacy, retention, and bias risks before handling sensitive business data.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189" y="6565392"/>
            <a:ext cx="3867053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601160" y="6565392"/>
            <a:ext cx="59053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373"/>
            <a:ext cx="11734506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pragmatic stack for rapid validation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57189" y="1333500"/>
            <a:ext cx="2676458" cy="17073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7684" y="1544241"/>
            <a:ext cx="336412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FRAMEWORK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7684" y="1783060"/>
            <a:ext cx="336412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7684" y="2483445"/>
            <a:ext cx="223831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Fast, interactive business interface for rapid prototyping.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24142" y="1333500"/>
            <a:ext cx="2676458" cy="17073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4637" y="1544241"/>
            <a:ext cx="336412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14637" y="1783060"/>
            <a:ext cx="336412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14637" y="2483445"/>
            <a:ext cx="223831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application logic and data processing engine.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1095" y="1333500"/>
            <a:ext cx="2676458" cy="17073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590" y="1544241"/>
            <a:ext cx="336412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81590" y="1783060"/>
            <a:ext cx="336412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SQLite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1590" y="2483445"/>
            <a:ext cx="223831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Lightweight, zero-config relational storage for MVP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8048" y="1333500"/>
            <a:ext cx="2676458" cy="17073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8544" y="1544241"/>
            <a:ext cx="2943151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ENGINE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248544" y="1783060"/>
            <a:ext cx="2943151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48544" y="2473920"/>
            <a:ext cx="223831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Natural-language processing for business insights.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189" y="3221831"/>
            <a:ext cx="2676458" cy="1716881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684" y="3432671"/>
            <a:ext cx="336412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7684" y="3671391"/>
            <a:ext cx="336412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Authenticator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7684" y="4381202"/>
            <a:ext cx="223831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login and role-aware access control (Admin/Staff).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24142" y="3221831"/>
            <a:ext cx="2676458" cy="1716881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4637" y="3432671"/>
            <a:ext cx="336412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14637" y="3671391"/>
            <a:ext cx="336412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Dotenv &amp; YAML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14637" y="4381202"/>
            <a:ext cx="223831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 and credential management structure.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1095" y="3221831"/>
            <a:ext cx="2676458" cy="1716881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1590" y="3432671"/>
            <a:ext cx="3364126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81590" y="3671391"/>
            <a:ext cx="336412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Bcrypt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81590" y="4381202"/>
            <a:ext cx="2342397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Industry-standard password hashing for user security.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58048" y="3221831"/>
            <a:ext cx="2676458" cy="1716881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48544" y="3442196"/>
            <a:ext cx="2943151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248544" y="3680916"/>
            <a:ext cx="2943151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Pytest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48544" y="4381202"/>
            <a:ext cx="2238319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Unit-test design for core logic and mocked AI integrations.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189" y="5319613"/>
            <a:ext cx="11277318" cy="108108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189" y="5319613"/>
            <a:ext cx="11277318" cy="1905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7" name="Text 35"/>
          <p:cNvSpPr/>
          <p:nvPr/>
        </p:nvSpPr>
        <p:spPr>
          <a:xfrm>
            <a:off x="685783" y="5591175"/>
            <a:ext cx="444488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LOW OVERHEAD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783" y="5817195"/>
            <a:ext cx="3295568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Minimal setup cost and zero external infrastructure dependencies for the prototype.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19489" y="5591175"/>
            <a:ext cx="444488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MODULAR DESIGN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19489" y="5817195"/>
            <a:ext cx="3295568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boundaries between UI, logic, and data layers for easy maintenance.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53196" y="5591175"/>
            <a:ext cx="403849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SCALABLE PATH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53196" y="5817195"/>
            <a:ext cx="3295568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Straightforward migration path to enterprise-grade databases and cloud serving.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189" y="6565392"/>
            <a:ext cx="3867053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601160" y="6565392"/>
            <a:ext cx="59053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269180"/>
            <a:ext cx="11963101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two-minute journey through the prototype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8594" y="1112460"/>
            <a:ext cx="2833617" cy="208597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pic>
        <p:nvPicPr>
          <p:cNvPr id="4" name="Image 0" descr="preencoded.png">
            <a:hlinkClick xmlns:r="http://schemas.openxmlformats.org/officeDocument/2006/relationships" r:id="rId10" action="ppaction://hlinksldjump" tooltip="Click to enlarg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94" y="1112460"/>
            <a:ext cx="2833617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594" y="2055435"/>
            <a:ext cx="2833617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6" name="Text 3"/>
          <p:cNvSpPr/>
          <p:nvPr/>
        </p:nvSpPr>
        <p:spPr>
          <a:xfrm>
            <a:off x="14585" y="1512411"/>
            <a:ext cx="326163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IBM Plex Sans Bold" pitchFamily="34" charset="0"/>
                <a:ea typeface="IBM Plex Sans" pitchFamily="34" charset="-122"/>
                <a:cs typeface="IBM Plex Sans" pitchFamily="34" charset="-120"/>
              </a:rPr>
              <a:t>LOGIN SCREEN VIEW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42891" y="2199600"/>
            <a:ext cx="356374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891" y="2412524"/>
            <a:ext cx="356374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Secure Access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2891" y="2622669"/>
            <a:ext cx="25478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logs in as Admin or Staff via the authenticated entry point.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95458" y="1112460"/>
            <a:ext cx="2833617" cy="208597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pic>
        <p:nvPicPr>
          <p:cNvPr id="11" name="Image 1" descr="preencoded.png">
            <a:hlinkClick xmlns:r="http://schemas.openxmlformats.org/officeDocument/2006/relationships" r:id="rId11" action="ppaction://hlinksldjump" tooltip="Click to enlarg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58" y="1112460"/>
            <a:ext cx="2833617" cy="952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95458" y="2055435"/>
            <a:ext cx="2833617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13" name="Text 9"/>
          <p:cNvSpPr/>
          <p:nvPr/>
        </p:nvSpPr>
        <p:spPr>
          <a:xfrm>
            <a:off x="2981449" y="1512411"/>
            <a:ext cx="326163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IBM Plex Sans Bold" pitchFamily="34" charset="0"/>
                <a:ea typeface="IBM Plex Sans" pitchFamily="34" charset="-122"/>
                <a:cs typeface="IBM Plex Sans" pitchFamily="34" charset="-120"/>
              </a:rPr>
              <a:t>DASHBOARD VIEW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309755" y="2199600"/>
            <a:ext cx="356384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309755" y="2412524"/>
            <a:ext cx="3563848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KPI Overview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09755" y="2622669"/>
            <a:ext cx="25478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revenue, sales volume, and low-stock indicators at a glance.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62521" y="1112460"/>
            <a:ext cx="2833617" cy="208597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pic>
        <p:nvPicPr>
          <p:cNvPr id="18" name="Image 2" descr="preencoded.png">
            <a:hlinkClick xmlns:r="http://schemas.openxmlformats.org/officeDocument/2006/relationships" r:id="rId12" action="ppaction://hlinksldjump" tooltip="Click to enlarg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521" y="1112460"/>
            <a:ext cx="2833617" cy="9525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62521" y="2055435"/>
            <a:ext cx="2833617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20" name="Text 15"/>
          <p:cNvSpPr/>
          <p:nvPr/>
        </p:nvSpPr>
        <p:spPr>
          <a:xfrm>
            <a:off x="5948511" y="1512411"/>
            <a:ext cx="326163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IBM Plex Sans Bold" pitchFamily="34" charset="0"/>
                <a:ea typeface="IBM Plex Sans" pitchFamily="34" charset="-122"/>
                <a:cs typeface="IBM Plex Sans" pitchFamily="34" charset="-120"/>
              </a:rPr>
              <a:t>INVENTORY VIEW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6276818" y="2199600"/>
            <a:ext cx="356374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3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276818" y="2412524"/>
            <a:ext cx="356374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Stock Check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276818" y="2622669"/>
            <a:ext cx="25478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items near the threshold and prepare for reordering.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129385" y="1112460"/>
            <a:ext cx="2833617" cy="208597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pic>
        <p:nvPicPr>
          <p:cNvPr id="25" name="Image 3" descr="preencoded.png">
            <a:hlinkClick xmlns:r="http://schemas.openxmlformats.org/officeDocument/2006/relationships" r:id="rId13" action="ppaction://hlinksldjump" tooltip="Click to enlar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385" y="1112460"/>
            <a:ext cx="2833617" cy="9525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129385" y="2055435"/>
            <a:ext cx="2833617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27" name="Text 21"/>
          <p:cNvSpPr/>
          <p:nvPr/>
        </p:nvSpPr>
        <p:spPr>
          <a:xfrm>
            <a:off x="8915375" y="1512411"/>
            <a:ext cx="326163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IBM Plex Sans Bold" pitchFamily="34" charset="0"/>
                <a:ea typeface="IBM Plex Sans" pitchFamily="34" charset="-122"/>
                <a:cs typeface="IBM Plex Sans" pitchFamily="34" charset="-120"/>
              </a:rPr>
              <a:t>SALES ENTRY VIEW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243682" y="2199600"/>
            <a:ext cx="2948013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4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9243682" y="2412524"/>
            <a:ext cx="2948013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Record Sale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9243682" y="2622669"/>
            <a:ext cx="25478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 transaction details; system decrements stock immediately.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1705528" y="3331785"/>
            <a:ext cx="2833617" cy="208597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pic>
        <p:nvPicPr>
          <p:cNvPr id="32" name="Image 4" descr="preencoded.png">
            <a:hlinkClick xmlns:r="http://schemas.openxmlformats.org/officeDocument/2006/relationships" r:id="rId14" action="ppaction://hlinksldjump" tooltip="Click to enlarg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5528" y="3331785"/>
            <a:ext cx="2833617" cy="9525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705528" y="4274760"/>
            <a:ext cx="2833617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34" name="Text 27"/>
          <p:cNvSpPr/>
          <p:nvPr/>
        </p:nvSpPr>
        <p:spPr>
          <a:xfrm>
            <a:off x="1491518" y="3731736"/>
            <a:ext cx="326163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IBM Plex Sans Bold" pitchFamily="34" charset="0"/>
                <a:ea typeface="IBM Plex Sans" pitchFamily="34" charset="-122"/>
                <a:cs typeface="IBM Plex Sans" pitchFamily="34" charset="-120"/>
              </a:rPr>
              <a:t>SALES HISTORY VIEW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1819825" y="4418925"/>
            <a:ext cx="356374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5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1819825" y="4631849"/>
            <a:ext cx="356374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Verify Log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1819825" y="4841994"/>
            <a:ext cx="25478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the transaction in the immutable sales history table.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4678543" y="3331785"/>
            <a:ext cx="2833617" cy="208597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pic>
        <p:nvPicPr>
          <p:cNvPr id="39" name="Image 5" descr="preencoded.png">
            <a:hlinkClick xmlns:r="http://schemas.openxmlformats.org/officeDocument/2006/relationships" r:id="rId15" action="ppaction://hlinksldjump" tooltip="Click to enlarg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543" y="3331785"/>
            <a:ext cx="2833617" cy="952500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4678543" y="4274760"/>
            <a:ext cx="2833617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41" name="Text 33"/>
          <p:cNvSpPr/>
          <p:nvPr/>
        </p:nvSpPr>
        <p:spPr>
          <a:xfrm>
            <a:off x="4464534" y="3731736"/>
            <a:ext cx="326163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IBM Plex Sans Bold" pitchFamily="34" charset="0"/>
                <a:ea typeface="IBM Plex Sans" pitchFamily="34" charset="-122"/>
                <a:cs typeface="IBM Plex Sans" pitchFamily="34" charset="-120"/>
              </a:rPr>
              <a:t>INSIGHTS PANEL VIEW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4792840" y="4418925"/>
            <a:ext cx="356384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6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4792840" y="4631849"/>
            <a:ext cx="3563848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 Generation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4792840" y="4841994"/>
            <a:ext cx="25478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 triggers the InsightsEngine to analyze updated metrics.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7651559" y="3331785"/>
            <a:ext cx="2833617" cy="2085975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pic>
        <p:nvPicPr>
          <p:cNvPr id="46" name="Image 6" descr="preencoded.png">
            <a:hlinkClick xmlns:r="http://schemas.openxmlformats.org/officeDocument/2006/relationships" r:id="rId16" action="ppaction://hlinksldjump" tooltip="Click to enlarg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559" y="3331785"/>
            <a:ext cx="2833617" cy="95250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651559" y="4274760"/>
            <a:ext cx="2833617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48" name="Text 39"/>
          <p:cNvSpPr/>
          <p:nvPr/>
        </p:nvSpPr>
        <p:spPr>
          <a:xfrm>
            <a:off x="7437549" y="3731736"/>
            <a:ext cx="3261636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IBM Plex Sans Bold" pitchFamily="34" charset="0"/>
                <a:ea typeface="IBM Plex Sans" pitchFamily="34" charset="-122"/>
                <a:cs typeface="IBM Plex Sans" pitchFamily="34" charset="-120"/>
              </a:rPr>
              <a:t>BRIEFING VIEW</a:t>
            </a:r>
            <a:endParaRPr lang="en-US" sz="750" dirty="0"/>
          </a:p>
        </p:txBody>
      </p:sp>
      <p:sp>
        <p:nvSpPr>
          <p:cNvPr id="49" name="Text 40"/>
          <p:cNvSpPr/>
          <p:nvPr/>
        </p:nvSpPr>
        <p:spPr>
          <a:xfrm>
            <a:off x="7765856" y="4418925"/>
            <a:ext cx="3563749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7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7765856" y="4631849"/>
            <a:ext cx="3563749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Actionable Brief</a:t>
            </a:r>
            <a:endParaRPr lang="en-US" sz="950" dirty="0"/>
          </a:p>
        </p:txBody>
      </p:sp>
      <p:sp>
        <p:nvSpPr>
          <p:cNvPr id="51" name="Text 42"/>
          <p:cNvSpPr/>
          <p:nvPr/>
        </p:nvSpPr>
        <p:spPr>
          <a:xfrm>
            <a:off x="7765856" y="4841994"/>
            <a:ext cx="25478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the AI-generated trend, rationale, and recommendation.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9129385" y="3331785"/>
            <a:ext cx="12700" cy="127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3" name="Shape 44"/>
          <p:cNvSpPr/>
          <p:nvPr/>
        </p:nvSpPr>
        <p:spPr>
          <a:xfrm>
            <a:off x="228594" y="5532060"/>
            <a:ext cx="11734506" cy="44003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4" name="Shape 45"/>
          <p:cNvSpPr/>
          <p:nvPr/>
        </p:nvSpPr>
        <p:spPr>
          <a:xfrm>
            <a:off x="228594" y="5532060"/>
            <a:ext cx="38099" cy="440035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55" name="Text 46"/>
          <p:cNvSpPr/>
          <p:nvPr/>
        </p:nvSpPr>
        <p:spPr>
          <a:xfrm>
            <a:off x="387440" y="5691604"/>
            <a:ext cx="11804255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demo makes the value visible: a routine transaction becomes updated operational data, and the updated data becomes a concise management recommendation.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11829754" y="6565392"/>
            <a:ext cx="361941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  <p:sp>
        <p:nvSpPr>
          <p:cNvPr id="57" name="Text 48"/>
          <p:cNvSpPr/>
          <p:nvPr/>
        </p:nvSpPr>
        <p:spPr>
          <a:xfrm>
            <a:off x="228594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373"/>
            <a:ext cx="11734506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Value today, scale tomorrow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57189" y="1559520"/>
            <a:ext cx="4546486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PROTOTYPE VALUE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189" y="2052538"/>
            <a:ext cx="3606710" cy="7351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585" y="2210891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Centralized Visibility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9585" y="2459930"/>
            <a:ext cx="4484178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view of products, customers, and sales history.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2493" y="2052538"/>
            <a:ext cx="3606710" cy="735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292493" y="2052538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9" name="Shape 7"/>
          <p:cNvSpPr/>
          <p:nvPr/>
        </p:nvSpPr>
        <p:spPr>
          <a:xfrm>
            <a:off x="7889678" y="2052538"/>
            <a:ext cx="9525" cy="735112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10" name="Shape 8"/>
          <p:cNvSpPr/>
          <p:nvPr/>
        </p:nvSpPr>
        <p:spPr>
          <a:xfrm>
            <a:off x="4292493" y="2778323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11" name="Shape 9"/>
          <p:cNvSpPr/>
          <p:nvPr/>
        </p:nvSpPr>
        <p:spPr>
          <a:xfrm>
            <a:off x="4292493" y="2052538"/>
            <a:ext cx="38099" cy="735112"/>
          </a:xfrm>
          <a:prstGeom prst="rect">
            <a:avLst/>
          </a:prstGeom>
          <a:solidFill>
            <a:srgbClr val="6F6F6F"/>
          </a:solidFill>
          <a:ln/>
        </p:spPr>
      </p:sp>
      <p:sp>
        <p:nvSpPr>
          <p:cNvPr id="12" name="Text 10"/>
          <p:cNvSpPr/>
          <p:nvPr/>
        </p:nvSpPr>
        <p:spPr>
          <a:xfrm>
            <a:off x="4444889" y="2210891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MVP Scope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44889" y="2459930"/>
            <a:ext cx="407858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shared business and single currency in v1.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189" y="2921198"/>
            <a:ext cx="3606710" cy="921841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5" y="3079552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Operational Efficiency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9585" y="3328491"/>
            <a:ext cx="3707017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sales recording and automated stock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585" y="3515023"/>
            <a:ext cx="136948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decrement.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2493" y="2921198"/>
            <a:ext cx="3606710" cy="735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2493" y="2921198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20" name="Shape 18"/>
          <p:cNvSpPr/>
          <p:nvPr/>
        </p:nvSpPr>
        <p:spPr>
          <a:xfrm>
            <a:off x="7889678" y="2921198"/>
            <a:ext cx="9525" cy="735112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2493" y="3646884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2493" y="2921198"/>
            <a:ext cx="38099" cy="735112"/>
          </a:xfrm>
          <a:prstGeom prst="rect">
            <a:avLst/>
          </a:prstGeom>
          <a:solidFill>
            <a:srgbClr val="6F6F6F"/>
          </a:solidFill>
          <a:ln/>
        </p:spPr>
      </p:sp>
      <p:sp>
        <p:nvSpPr>
          <p:cNvPr id="23" name="Text 21"/>
          <p:cNvSpPr/>
          <p:nvPr/>
        </p:nvSpPr>
        <p:spPr>
          <a:xfrm>
            <a:off x="4444889" y="3079552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Workflow Gaps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44889" y="3328491"/>
            <a:ext cx="433565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refund/return or multi-location support currently.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189" y="3976291"/>
            <a:ext cx="3606710" cy="7351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585" y="4134644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Early Awareness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9585" y="4383584"/>
            <a:ext cx="4215699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 low-stock alerts to prevent revenue loss.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189" y="4844852"/>
            <a:ext cx="3606710" cy="7351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585" y="5003205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AI-Assisted Decisions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9585" y="5252145"/>
            <a:ext cx="405546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Plain-English briefings for non-technical owners.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2493" y="1559520"/>
            <a:ext cx="4546486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LIMITATIONS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2493" y="3789759"/>
            <a:ext cx="3606710" cy="9218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292493" y="3789759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34" name="Shape 32"/>
          <p:cNvSpPr/>
          <p:nvPr/>
        </p:nvSpPr>
        <p:spPr>
          <a:xfrm>
            <a:off x="7889678" y="3789759"/>
            <a:ext cx="9525" cy="921841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35" name="Shape 33"/>
          <p:cNvSpPr/>
          <p:nvPr/>
        </p:nvSpPr>
        <p:spPr>
          <a:xfrm>
            <a:off x="4292493" y="4701977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36" name="Shape 34"/>
          <p:cNvSpPr/>
          <p:nvPr/>
        </p:nvSpPr>
        <p:spPr>
          <a:xfrm>
            <a:off x="4292493" y="3789759"/>
            <a:ext cx="38099" cy="921841"/>
          </a:xfrm>
          <a:prstGeom prst="rect">
            <a:avLst/>
          </a:prstGeom>
          <a:solidFill>
            <a:srgbClr val="6F6F6F"/>
          </a:solidFill>
          <a:ln/>
        </p:spPr>
      </p:sp>
      <p:sp>
        <p:nvSpPr>
          <p:cNvPr id="37" name="Text 35"/>
          <p:cNvSpPr/>
          <p:nvPr/>
        </p:nvSpPr>
        <p:spPr>
          <a:xfrm>
            <a:off x="4444889" y="3948113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Storage Scale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44889" y="4197052"/>
            <a:ext cx="4358471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SQLite is ideal for prototypes, not massive enterprise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44889" y="4383584"/>
            <a:ext cx="99226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92493" y="4844852"/>
            <a:ext cx="3606710" cy="9218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292493" y="4844852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42" name="Shape 40"/>
          <p:cNvSpPr/>
          <p:nvPr/>
        </p:nvSpPr>
        <p:spPr>
          <a:xfrm>
            <a:off x="7889678" y="4844852"/>
            <a:ext cx="9525" cy="921841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43" name="Shape 41"/>
          <p:cNvSpPr/>
          <p:nvPr/>
        </p:nvSpPr>
        <p:spPr>
          <a:xfrm>
            <a:off x="4292493" y="5757267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44" name="Shape 42"/>
          <p:cNvSpPr/>
          <p:nvPr/>
        </p:nvSpPr>
        <p:spPr>
          <a:xfrm>
            <a:off x="4292493" y="4844852"/>
            <a:ext cx="38099" cy="921841"/>
          </a:xfrm>
          <a:prstGeom prst="rect">
            <a:avLst/>
          </a:prstGeom>
          <a:solidFill>
            <a:srgbClr val="6F6F6F"/>
          </a:solidFill>
          <a:ln/>
        </p:spPr>
      </p:sp>
      <p:sp>
        <p:nvSpPr>
          <p:cNvPr id="45" name="Text 43"/>
          <p:cNvSpPr/>
          <p:nvPr/>
        </p:nvSpPr>
        <p:spPr>
          <a:xfrm>
            <a:off x="4444889" y="5003205"/>
            <a:ext cx="451473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Security Hardening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44889" y="5252145"/>
            <a:ext cx="394702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Production-grade secret management and MFA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44889" y="5438874"/>
            <a:ext cx="1198334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27797" y="1559520"/>
            <a:ext cx="4063898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IBM-ALIGNED OPPORTUNITIES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27797" y="2052538"/>
            <a:ext cx="3606710" cy="92184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0" name="Shape 48"/>
          <p:cNvSpPr/>
          <p:nvPr/>
        </p:nvSpPr>
        <p:spPr>
          <a:xfrm>
            <a:off x="8127797" y="2052538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51" name="Shape 49"/>
          <p:cNvSpPr/>
          <p:nvPr/>
        </p:nvSpPr>
        <p:spPr>
          <a:xfrm>
            <a:off x="11724783" y="2052538"/>
            <a:ext cx="9525" cy="921841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52" name="Shape 50"/>
          <p:cNvSpPr/>
          <p:nvPr/>
        </p:nvSpPr>
        <p:spPr>
          <a:xfrm>
            <a:off x="8127797" y="2964855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2052538"/>
            <a:ext cx="38099" cy="921841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54" name="Text 52"/>
          <p:cNvSpPr/>
          <p:nvPr/>
        </p:nvSpPr>
        <p:spPr>
          <a:xfrm>
            <a:off x="8280193" y="2210891"/>
            <a:ext cx="3911502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IBM Cloud Deployment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80193" y="2459930"/>
            <a:ext cx="391150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 the application using managed Kubernetes or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80193" y="2646462"/>
            <a:ext cx="1484077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Engine.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27797" y="3107730"/>
            <a:ext cx="3606710" cy="92184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8" name="Shape 56"/>
          <p:cNvSpPr/>
          <p:nvPr/>
        </p:nvSpPr>
        <p:spPr>
          <a:xfrm>
            <a:off x="8127797" y="3107730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59" name="Shape 57"/>
          <p:cNvSpPr/>
          <p:nvPr/>
        </p:nvSpPr>
        <p:spPr>
          <a:xfrm>
            <a:off x="11724783" y="3107730"/>
            <a:ext cx="9525" cy="921841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60" name="Shape 58"/>
          <p:cNvSpPr/>
          <p:nvPr/>
        </p:nvSpPr>
        <p:spPr>
          <a:xfrm>
            <a:off x="8127797" y="4020145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3107730"/>
            <a:ext cx="38099" cy="921841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62" name="Text 60"/>
          <p:cNvSpPr/>
          <p:nvPr/>
        </p:nvSpPr>
        <p:spPr>
          <a:xfrm>
            <a:off x="8280193" y="3266182"/>
            <a:ext cx="3911502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watsonx Integration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280193" y="3515023"/>
            <a:ext cx="3855544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Leverage governed enterprise AI for advanced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80193" y="3701752"/>
            <a:ext cx="1403811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forecasting.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127797" y="4163020"/>
            <a:ext cx="3606710" cy="92184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6" name="Shape 64"/>
          <p:cNvSpPr/>
          <p:nvPr/>
        </p:nvSpPr>
        <p:spPr>
          <a:xfrm>
            <a:off x="8127797" y="4163020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67" name="Shape 65"/>
          <p:cNvSpPr/>
          <p:nvPr/>
        </p:nvSpPr>
        <p:spPr>
          <a:xfrm>
            <a:off x="11724783" y="4163020"/>
            <a:ext cx="9525" cy="921841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68" name="Shape 66"/>
          <p:cNvSpPr/>
          <p:nvPr/>
        </p:nvSpPr>
        <p:spPr>
          <a:xfrm>
            <a:off x="8127797" y="5075238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69" name="Shape 67"/>
          <p:cNvSpPr/>
          <p:nvPr/>
        </p:nvSpPr>
        <p:spPr>
          <a:xfrm>
            <a:off x="8127797" y="4163020"/>
            <a:ext cx="38099" cy="921841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70" name="Text 68"/>
          <p:cNvSpPr/>
          <p:nvPr/>
        </p:nvSpPr>
        <p:spPr>
          <a:xfrm>
            <a:off x="8280193" y="4321373"/>
            <a:ext cx="3911502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IBM Db2 / Managed SQL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280193" y="4570313"/>
            <a:ext cx="391150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Migrate to resilient, enterprise-grade relational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280193" y="4756845"/>
            <a:ext cx="1146345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127797" y="5218113"/>
            <a:ext cx="3606710" cy="92184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4" name="Shape 72"/>
          <p:cNvSpPr/>
          <p:nvPr/>
        </p:nvSpPr>
        <p:spPr>
          <a:xfrm>
            <a:off x="8127797" y="5218113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75" name="Shape 73"/>
          <p:cNvSpPr/>
          <p:nvPr/>
        </p:nvSpPr>
        <p:spPr>
          <a:xfrm>
            <a:off x="11724783" y="5218113"/>
            <a:ext cx="9525" cy="921841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76" name="Shape 74"/>
          <p:cNvSpPr/>
          <p:nvPr/>
        </p:nvSpPr>
        <p:spPr>
          <a:xfrm>
            <a:off x="8127797" y="6130528"/>
            <a:ext cx="3606710" cy="9525"/>
          </a:xfrm>
          <a:prstGeom prst="rect">
            <a:avLst/>
          </a:prstGeom>
          <a:solidFill>
            <a:srgbClr val="D1D1D1"/>
          </a:solidFill>
          <a:ln/>
        </p:spPr>
      </p:sp>
      <p:sp>
        <p:nvSpPr>
          <p:cNvPr id="77" name="Shape 75"/>
          <p:cNvSpPr/>
          <p:nvPr/>
        </p:nvSpPr>
        <p:spPr>
          <a:xfrm>
            <a:off x="8127797" y="5218113"/>
            <a:ext cx="38099" cy="921841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78" name="Text 76"/>
          <p:cNvSpPr/>
          <p:nvPr/>
        </p:nvSpPr>
        <p:spPr>
          <a:xfrm>
            <a:off x="8280193" y="5376466"/>
            <a:ext cx="3911502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Hybrid Cloud Patterns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8280193" y="5625405"/>
            <a:ext cx="3911502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 the platform for multi-industry enterprise use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280193" y="5812135"/>
            <a:ext cx="1041870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cases.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1601160" y="6565392"/>
            <a:ext cx="59053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57189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373"/>
            <a:ext cx="11734506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5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From prototype to trusted business platform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57189" y="1668363"/>
            <a:ext cx="2895528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3" kern="0" dirty="0">
                <a:solidFill>
                  <a:srgbClr val="6F6F6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066973" y="1666081"/>
            <a:ext cx="9124722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Strengthen the MVP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66973" y="2034977"/>
            <a:ext cx="1728744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8241" y="2123182"/>
            <a:ext cx="2372955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Validation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7163" y="2034977"/>
            <a:ext cx="1533487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8431" y="2123182"/>
            <a:ext cx="2211332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Richer Dashboards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2096" y="2034977"/>
            <a:ext cx="1552536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3364" y="2123182"/>
            <a:ext cx="2234152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Exportable Reports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96077" y="2034977"/>
            <a:ext cx="1233457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346" y="2123182"/>
            <a:ext cx="1851376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Harden Config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189" y="2806502"/>
            <a:ext cx="2895528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3" kern="0" dirty="0">
                <a:solidFill>
                  <a:srgbClr val="6F6F6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6973" y="2804220"/>
            <a:ext cx="9124722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Production Readiness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66973" y="3173214"/>
            <a:ext cx="1543011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8241" y="3261320"/>
            <a:ext cx="2222742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Database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1430" y="3173214"/>
            <a:ext cx="1528724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2699" y="3261320"/>
            <a:ext cx="2205677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Identity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81600" y="3173214"/>
            <a:ext cx="1052387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2868" y="3261320"/>
            <a:ext cx="163399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Trails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05532" y="3173214"/>
            <a:ext cx="1504912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6800" y="3261320"/>
            <a:ext cx="217700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Deployment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189" y="3944838"/>
            <a:ext cx="2895528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spc="3" kern="0" dirty="0">
                <a:solidFill>
                  <a:srgbClr val="6F6F6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66973" y="3942556"/>
            <a:ext cx="9124722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Intelligent Growth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066973" y="4311452"/>
            <a:ext cx="1643021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8241" y="4399657"/>
            <a:ext cx="2342893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 Forecasting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81440" y="4311452"/>
            <a:ext cx="1452526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2709" y="4399657"/>
            <a:ext cx="211429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Scenario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05412" y="4311452"/>
            <a:ext cx="1833517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6680" y="4399657"/>
            <a:ext cx="2477728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Multi-Business Support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10375" y="4311452"/>
            <a:ext cx="1423952" cy="357187"/>
          </a:xfrm>
          <a:prstGeom prst="rect">
            <a:avLst/>
          </a:prstGeom>
          <a:solidFill>
            <a:srgbClr val="F4F4F4"/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91643" y="4399657"/>
            <a:ext cx="207997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Governed IBM AI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189" y="5093208"/>
            <a:ext cx="36576" cy="78638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1206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AI Business Management System is a practical first step toward making 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intelligent business operations accessible, actionable, and scalable.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634097" y="6565392"/>
            <a:ext cx="3557598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xmlns:r="http://schemas.openxmlformats.org/officeDocument/2006/relationships" r:id="rId3"/>
              </a:rPr>
              <a:t>github.com/Puranjay100/AI-Business-Management-System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189" y="6565392"/>
            <a:ext cx="3004665" cy="136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vie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28600" y="265176"/>
            <a:ext cx="10936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1 · Secure Access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0" y="914400"/>
            <a:ext cx="1218886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SCREEN VIEW</a:t>
            </a:r>
            <a:endParaRPr lang="en-US" sz="800" dirty="0"/>
          </a:p>
        </p:txBody>
      </p:sp>
      <p:pic>
        <p:nvPicPr>
          <p:cNvPr id="4" name="Screenshot 4" descr="Application screenshot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82350" y="1207008"/>
            <a:ext cx="10424160" cy="3498037"/>
          </a:xfrm>
          <a:prstGeom prst="rect">
            <a:avLst/>
          </a:prstGeom>
          <a:ln w="12700">
            <a:solidFill>
              <a:srgbClr val="C6C6C6"/>
            </a:solidFill>
          </a:ln>
        </p:spPr>
      </p:pic>
      <p:sp>
        <p:nvSpPr>
          <p:cNvPr id="5" name="Text 5"/>
          <p:cNvSpPr/>
          <p:nvPr/>
        </p:nvSpPr>
        <p:spPr>
          <a:xfrm>
            <a:off x="2441448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9393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logs in as Admin or Staff via the authenticated entry point.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0" y="5715000"/>
            <a:ext cx="1218886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  <a:hlinkClick xmlns:r="http://schemas.openxmlformats.org/officeDocument/2006/relationships" r:id="rId9" action="ppaction://hlinksldjump"/>
              </a:rPr>
              <a:t>← Back to the demo walkthrough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228600" y="6565392"/>
            <a:ext cx="30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832336" y="6565392"/>
            <a:ext cx="3657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vie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28600" y="265176"/>
            <a:ext cx="10936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2 · KPI Overview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0" y="914400"/>
            <a:ext cx="1218886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VIEW</a:t>
            </a:r>
            <a:endParaRPr lang="en-US" sz="800" dirty="0"/>
          </a:p>
        </p:txBody>
      </p:sp>
      <p:pic>
        <p:nvPicPr>
          <p:cNvPr id="4" name="Screenshot 4" descr="Application screenshot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82350" y="1207008"/>
            <a:ext cx="10424160" cy="3498037"/>
          </a:xfrm>
          <a:prstGeom prst="rect">
            <a:avLst/>
          </a:prstGeom>
          <a:ln w="12700">
            <a:solidFill>
              <a:srgbClr val="C6C6C6"/>
            </a:solidFill>
          </a:ln>
        </p:spPr>
      </p:pic>
      <p:sp>
        <p:nvSpPr>
          <p:cNvPr id="5" name="Text 5"/>
          <p:cNvSpPr/>
          <p:nvPr/>
        </p:nvSpPr>
        <p:spPr>
          <a:xfrm>
            <a:off x="2441448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9393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revenue, sales volume, and low-stock indicators at a glance.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0" y="5715000"/>
            <a:ext cx="1218886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  <a:hlinkClick xmlns:r="http://schemas.openxmlformats.org/officeDocument/2006/relationships" r:id="rId9" action="ppaction://hlinksldjump"/>
              </a:rPr>
              <a:t>← Back to the demo walkthrough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228600" y="6565392"/>
            <a:ext cx="30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832336" y="6565392"/>
            <a:ext cx="3657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view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28600" y="265176"/>
            <a:ext cx="10936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3 · Stock Check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0" y="914400"/>
            <a:ext cx="1218886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 VIEW</a:t>
            </a:r>
            <a:endParaRPr lang="en-US" sz="800" dirty="0"/>
          </a:p>
        </p:txBody>
      </p:sp>
      <p:pic>
        <p:nvPicPr>
          <p:cNvPr id="4" name="Screenshot 4" descr="Application screenshot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82350" y="1207008"/>
            <a:ext cx="10424160" cy="3498037"/>
          </a:xfrm>
          <a:prstGeom prst="rect">
            <a:avLst/>
          </a:prstGeom>
          <a:ln w="12700">
            <a:solidFill>
              <a:srgbClr val="C6C6C6"/>
            </a:solidFill>
          </a:ln>
        </p:spPr>
      </p:pic>
      <p:sp>
        <p:nvSpPr>
          <p:cNvPr id="5" name="Text 5"/>
          <p:cNvSpPr/>
          <p:nvPr/>
        </p:nvSpPr>
        <p:spPr>
          <a:xfrm>
            <a:off x="2441448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9393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items near the threshold and prepare for reordering.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0" y="5715000"/>
            <a:ext cx="1218886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  <a:hlinkClick xmlns:r="http://schemas.openxmlformats.org/officeDocument/2006/relationships" r:id="rId9" action="ppaction://hlinksldjump"/>
              </a:rPr>
              <a:t>← Back to the demo walkthrough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228600" y="6565392"/>
            <a:ext cx="30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832336" y="6565392"/>
            <a:ext cx="3657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view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28600" y="265176"/>
            <a:ext cx="10936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4 · Record Sale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0" y="914400"/>
            <a:ext cx="1218886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ENTRY VIEW</a:t>
            </a:r>
            <a:endParaRPr lang="en-US" sz="800" dirty="0"/>
          </a:p>
        </p:txBody>
      </p:sp>
      <p:pic>
        <p:nvPicPr>
          <p:cNvPr id="4" name="Screenshot 4" descr="Application screenshot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82350" y="1207008"/>
            <a:ext cx="10424160" cy="3498037"/>
          </a:xfrm>
          <a:prstGeom prst="rect">
            <a:avLst/>
          </a:prstGeom>
          <a:ln w="12700">
            <a:solidFill>
              <a:srgbClr val="C6C6C6"/>
            </a:solidFill>
          </a:ln>
        </p:spPr>
      </p:pic>
      <p:sp>
        <p:nvSpPr>
          <p:cNvPr id="5" name="Text 5"/>
          <p:cNvSpPr/>
          <p:nvPr/>
        </p:nvSpPr>
        <p:spPr>
          <a:xfrm>
            <a:off x="2441448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9393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 transaction details; system decrements stock immediately.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0" y="5715000"/>
            <a:ext cx="1218886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  <a:hlinkClick xmlns:r="http://schemas.openxmlformats.org/officeDocument/2006/relationships" r:id="rId9" action="ppaction://hlinksldjump"/>
              </a:rPr>
              <a:t>← Back to the demo walkthrough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228600" y="6565392"/>
            <a:ext cx="30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832336" y="6565392"/>
            <a:ext cx="3657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view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28600" y="265176"/>
            <a:ext cx="10936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5 · Verify Log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0" y="914400"/>
            <a:ext cx="1218886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HISTORY VIEW</a:t>
            </a:r>
            <a:endParaRPr lang="en-US" sz="800" dirty="0"/>
          </a:p>
        </p:txBody>
      </p:sp>
      <p:pic>
        <p:nvPicPr>
          <p:cNvPr id="4" name="Screenshot 4" descr="Application screenshot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882350" y="1207008"/>
            <a:ext cx="10424160" cy="3498037"/>
          </a:xfrm>
          <a:prstGeom prst="rect">
            <a:avLst/>
          </a:prstGeom>
          <a:ln w="12700">
            <a:solidFill>
              <a:srgbClr val="C6C6C6"/>
            </a:solidFill>
          </a:ln>
        </p:spPr>
      </p:pic>
      <p:sp>
        <p:nvSpPr>
          <p:cNvPr id="5" name="Text 5"/>
          <p:cNvSpPr/>
          <p:nvPr/>
        </p:nvSpPr>
        <p:spPr>
          <a:xfrm>
            <a:off x="2441448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9393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the transaction in the immutable sales history table.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0" y="5715000"/>
            <a:ext cx="1218886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  <a:hlinkClick xmlns:r="http://schemas.openxmlformats.org/officeDocument/2006/relationships" r:id="rId9" action="ppaction://hlinksldjump"/>
              </a:rPr>
              <a:t>← Back to the demo walkthrough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228600" y="6565392"/>
            <a:ext cx="30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832336" y="6565392"/>
            <a:ext cx="3657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view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28600" y="265176"/>
            <a:ext cx="10936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6 · AI Generation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0" y="914400"/>
            <a:ext cx="1218886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INSIGHTS PANEL VIEW</a:t>
            </a:r>
            <a:endParaRPr lang="en-US" sz="800" dirty="0"/>
          </a:p>
        </p:txBody>
      </p:sp>
      <p:pic>
        <p:nvPicPr>
          <p:cNvPr id="4" name="Screenshot 4" descr="Application screenshot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882350" y="1207008"/>
            <a:ext cx="10424160" cy="3498037"/>
          </a:xfrm>
          <a:prstGeom prst="rect">
            <a:avLst/>
          </a:prstGeom>
          <a:ln w="12700">
            <a:solidFill>
              <a:srgbClr val="C6C6C6"/>
            </a:solidFill>
          </a:ln>
        </p:spPr>
      </p:pic>
      <p:sp>
        <p:nvSpPr>
          <p:cNvPr id="5" name="Text 5"/>
          <p:cNvSpPr/>
          <p:nvPr/>
        </p:nvSpPr>
        <p:spPr>
          <a:xfrm>
            <a:off x="2441448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9393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 triggers the InsightsEngine to analyze updated metrics.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0" y="5715000"/>
            <a:ext cx="1218886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  <a:hlinkClick xmlns:r="http://schemas.openxmlformats.org/officeDocument/2006/relationships" r:id="rId9" action="ppaction://hlinksldjump"/>
              </a:rPr>
              <a:t>← Back to the demo walkthrough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228600" y="6565392"/>
            <a:ext cx="30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832336" y="6565392"/>
            <a:ext cx="3657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view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28600" y="265176"/>
            <a:ext cx="109362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Step 7 · Actionable Brief</a:t>
            </a:r>
            <a:endParaRPr lang="en-US" sz="1800" dirty="0"/>
          </a:p>
        </p:txBody>
      </p:sp>
      <p:sp>
        <p:nvSpPr>
          <p:cNvPr id="3" name="Text 3"/>
          <p:cNvSpPr/>
          <p:nvPr/>
        </p:nvSpPr>
        <p:spPr>
          <a:xfrm>
            <a:off x="0" y="914400"/>
            <a:ext cx="1218886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BRIEFING VIEW</a:t>
            </a:r>
            <a:endParaRPr lang="en-US" sz="800" dirty="0"/>
          </a:p>
        </p:txBody>
      </p:sp>
      <p:pic>
        <p:nvPicPr>
          <p:cNvPr id="4" name="Screenshot 4" descr="Application screenshot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882350" y="1207008"/>
            <a:ext cx="10424160" cy="3498037"/>
          </a:xfrm>
          <a:prstGeom prst="rect">
            <a:avLst/>
          </a:prstGeom>
          <a:ln w="12700">
            <a:solidFill>
              <a:srgbClr val="C6C6C6"/>
            </a:solidFill>
          </a:ln>
        </p:spPr>
      </p:pic>
      <p:sp>
        <p:nvSpPr>
          <p:cNvPr id="5" name="Text 5"/>
          <p:cNvSpPr/>
          <p:nvPr/>
        </p:nvSpPr>
        <p:spPr>
          <a:xfrm>
            <a:off x="2441448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9393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the AI-generated trend, rationale, and recommendation.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0" y="5715000"/>
            <a:ext cx="1218886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62F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  <a:hlinkClick xmlns:r="http://schemas.openxmlformats.org/officeDocument/2006/relationships" r:id="rId9" action="ppaction://hlinksldjump"/>
              </a:rPr>
              <a:t>← Back to the demo walkthrough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228600" y="6565392"/>
            <a:ext cx="30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Business Management System | Project Prototype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11832336" y="6565392"/>
            <a:ext cx="3657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Business Management System | IBM Project Presentation</dc:title>
  <dc:subject/>
  <dc:creator/>
  <cp:lastModifiedBy/>
  <cp:revision>1</cp:revision>
  <dcterms:created xsi:type="dcterms:W3CDTF">2026-09-19T06:04:54Z</dcterms:created>
  <dcterms:modified xsi:type="dcterms:W3CDTF">2026-09-19T06:04:54Z</dcterms:modified>
</cp:coreProperties>
</file>